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市场规模(十亿美元)</c:v>
                </c:pt>
              </c:strCache>
            </c:strRef>
          </c:tx>
          <c:spPr>
            <a:solidFill>
              <a:srgbClr val="3282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2025E</c:v>
                  </c:pt>
                  <c:pt idx="6">
                    <c:v>2026E</c:v>
                  </c:pt>
                  <c:pt idx="7">
                    <c:v>2027E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228</c:v>
                </c:pt>
                <c:pt idx="1">
                  <c:v>295</c:v>
                </c:pt>
                <c:pt idx="2">
                  <c:v>383</c:v>
                </c:pt>
                <c:pt idx="3">
                  <c:v>489</c:v>
                </c:pt>
                <c:pt idx="4">
                  <c:v>627</c:v>
                </c:pt>
                <c:pt idx="5">
                  <c:v>789</c:v>
                </c:pt>
                <c:pt idx="6">
                  <c:v>958</c:v>
                </c:pt>
                <c:pt idx="7">
                  <c:v>1150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6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37160" cy="2286000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人工智能行业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ADB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深度分析报告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BE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 Industry Analysis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E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金联创智能研究平台  |  2026年5月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目录 CONTENTS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00ADB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3533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AI定义与发展历程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46320" y="1280160"/>
            <a:ext cx="457200" cy="457200"/>
          </a:xfrm>
          <a:prstGeom prst="ellipse">
            <a:avLst/>
          </a:prstGeom>
          <a:solidFill>
            <a:srgbClr val="00ADB5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325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40680" y="13533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技术架构与基础设施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00ADB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2677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市场规模与增长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46320" y="2194560"/>
            <a:ext cx="457200" cy="457200"/>
          </a:xfrm>
          <a:prstGeom prst="ellipse">
            <a:avLst/>
          </a:prstGeom>
          <a:solidFill>
            <a:srgbClr val="00ADB5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40680" y="22677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产业链分析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00ADB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54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31821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主要应用领域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46320" y="3108960"/>
            <a:ext cx="457200" cy="457200"/>
          </a:xfrm>
          <a:prstGeom prst="ellipse">
            <a:avLst/>
          </a:prstGeom>
          <a:solidFill>
            <a:srgbClr val="00ADB5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154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40680" y="31821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竞争格局与头部企业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00ADB5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069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" y="40965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发展趋势与展望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46320" y="4023360"/>
            <a:ext cx="457200" cy="457200"/>
          </a:xfrm>
          <a:prstGeom prst="ellipse">
            <a:avLst/>
          </a:prstGeom>
          <a:solidFill>
            <a:srgbClr val="00ADB5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4069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40680" y="40965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投资机会与风险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AI定义与发展历程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828800"/>
          </a:xfrm>
          <a:prstGeom prst="rect">
            <a:avLst/>
          </a:prstGeom>
          <a:solidFill>
            <a:srgbClr val="E2E8F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1828800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什么是人工智能？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人工智能（AI）是研究开发能够模拟、延伸和扩展人类智能的理论、方法、技术及应用系统的新兴技术科学。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核心目标：让机器具备感知、认知、推理、决策等能力。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发展历程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228600" cy="228600"/>
          </a:xfrm>
          <a:prstGeom prst="ellipse">
            <a:avLst/>
          </a:prstGeom>
          <a:solidFill>
            <a:srgbClr val="00ADB5"/>
          </a:solidFill>
          <a:ln/>
        </p:spPr>
      </p:sp>
      <p:sp>
        <p:nvSpPr>
          <p:cNvPr id="10" name="Shape 8"/>
          <p:cNvSpPr/>
          <p:nvPr/>
        </p:nvSpPr>
        <p:spPr>
          <a:xfrm>
            <a:off x="4869180" y="1874520"/>
            <a:ext cx="0" cy="365760"/>
          </a:xfrm>
          <a:prstGeom prst="line">
            <a:avLst/>
          </a:prstGeom>
          <a:noFill/>
          <a:ln w="25400">
            <a:solidFill>
              <a:srgbClr val="BBE1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600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52160" y="1600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达特茅斯会议，AI概念正式提出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240280"/>
            <a:ext cx="228600" cy="228600"/>
          </a:xfrm>
          <a:prstGeom prst="ellipse">
            <a:avLst/>
          </a:prstGeom>
          <a:solidFill>
            <a:srgbClr val="00ADB5"/>
          </a:solidFill>
          <a:ln/>
        </p:spPr>
      </p:sp>
      <p:sp>
        <p:nvSpPr>
          <p:cNvPr id="14" name="Shape 12"/>
          <p:cNvSpPr/>
          <p:nvPr/>
        </p:nvSpPr>
        <p:spPr>
          <a:xfrm>
            <a:off x="4869180" y="2468880"/>
            <a:ext cx="0" cy="365760"/>
          </a:xfrm>
          <a:prstGeom prst="line">
            <a:avLst/>
          </a:prstGeom>
          <a:noFill/>
          <a:ln w="25400">
            <a:solidFill>
              <a:srgbClr val="BBE1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2194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1980s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52160" y="2194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专家系统兴起，AI首次商业化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834640"/>
            <a:ext cx="228600" cy="228600"/>
          </a:xfrm>
          <a:prstGeom prst="ellipse">
            <a:avLst/>
          </a:prstGeom>
          <a:solidFill>
            <a:srgbClr val="00ADB5"/>
          </a:solidFill>
          <a:ln/>
        </p:spPr>
      </p:sp>
      <p:sp>
        <p:nvSpPr>
          <p:cNvPr id="18" name="Shape 16"/>
          <p:cNvSpPr/>
          <p:nvPr/>
        </p:nvSpPr>
        <p:spPr>
          <a:xfrm>
            <a:off x="4869180" y="3063240"/>
            <a:ext cx="0" cy="365760"/>
          </a:xfrm>
          <a:prstGeom prst="line">
            <a:avLst/>
          </a:prstGeom>
          <a:noFill/>
          <a:ln w="25400">
            <a:solidFill>
              <a:srgbClr val="BBE1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2788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0" y="2788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深度学习突破，ImageNet竞赛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429000"/>
            <a:ext cx="228600" cy="228600"/>
          </a:xfrm>
          <a:prstGeom prst="ellipse">
            <a:avLst/>
          </a:prstGeom>
          <a:solidFill>
            <a:srgbClr val="00ADB5"/>
          </a:solidFill>
          <a:ln/>
        </p:spPr>
      </p:sp>
      <p:sp>
        <p:nvSpPr>
          <p:cNvPr id="22" name="Shape 20"/>
          <p:cNvSpPr/>
          <p:nvPr/>
        </p:nvSpPr>
        <p:spPr>
          <a:xfrm>
            <a:off x="4869180" y="3657600"/>
            <a:ext cx="0" cy="365760"/>
          </a:xfrm>
          <a:prstGeom prst="line">
            <a:avLst/>
          </a:prstGeom>
          <a:noFill/>
          <a:ln w="25400">
            <a:solidFill>
              <a:srgbClr val="BBE1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3383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52160" y="3383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Transformer架构，NLP革命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4023360"/>
            <a:ext cx="228600" cy="228600"/>
          </a:xfrm>
          <a:prstGeom prst="ellipse">
            <a:avLst/>
          </a:prstGeom>
          <a:solidFill>
            <a:srgbClr val="00ADB5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3977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52160" y="3977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大模型时代，生成式AI爆发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关键里程碑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0080" y="3657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097280" y="3657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机器学习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97280" y="3931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从数据中自动学习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0" y="3657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3200400" y="3657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深度学习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200400" y="3931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神经网络突破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3657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5303520" y="3657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03520" y="3931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自然语言处理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49440" y="3657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7406640" y="3657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生成式AI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406640" y="3931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大模型时代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AI技术架构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2560320" cy="2560320"/>
          </a:xfrm>
          <a:prstGeom prst="rect">
            <a:avLst/>
          </a:prstGeom>
          <a:solidFill>
            <a:srgbClr val="00ADB5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17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1920240"/>
            <a:ext cx="219456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57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计算机视觉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自然语言处理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语音识别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推荐系统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66160" y="1280160"/>
            <a:ext cx="2560320" cy="2560320"/>
          </a:xfrm>
          <a:prstGeom prst="rect">
            <a:avLst/>
          </a:prstGeom>
          <a:solidFill>
            <a:srgbClr val="3282B8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66160" y="1417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模型层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749040" y="1920240"/>
            <a:ext cx="219456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2057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机器学习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0" y="2468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深度学习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大语言模型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40480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强化学习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1280160"/>
            <a:ext cx="2560320" cy="2560320"/>
          </a:xfrm>
          <a:prstGeom prst="rect">
            <a:avLst/>
          </a:prstGeom>
          <a:solidFill>
            <a:srgbClr val="0F4C75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1417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基础层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583680" y="1920240"/>
            <a:ext cx="219456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2057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算力基础设施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0" y="2468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数据资源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算法框架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75120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云计算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技术驱动因素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4480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算力提升（GPU/TPU）  |  数据爆炸（Big Data）  |  算法突破（Transformer）  |  开源生态（TensorFlow/PyTorch）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全球AI市场规模与增长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463040"/>
          </a:xfrm>
          <a:prstGeom prst="rect">
            <a:avLst/>
          </a:prstGeom>
          <a:solidFill>
            <a:srgbClr val="00ADB5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4,067亿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美元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2024年全球AI市场规模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+15.2%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1463040"/>
          </a:xfrm>
          <a:prstGeom prst="rect">
            <a:avLst/>
          </a:prstGeom>
          <a:solidFill>
            <a:srgbClr val="E2E8F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280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4C7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15.7%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91840" y="1783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年复合增长率(CAGR)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23774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2024-2030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51760" cy="1463040"/>
          </a:xfrm>
          <a:prstGeom prst="rect">
            <a:avLst/>
          </a:prstGeom>
          <a:solidFill>
            <a:srgbClr val="E2E8F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280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4C7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1.85万亿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26480" y="1783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美元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2030年预期规模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23774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预测值</a:t>
            </a:r>
            <a:endParaRPr lang="en-US" sz="10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" y="2834640"/>
          <a:ext cx="50292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5760720" y="2834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区域分布（2024）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760720" y="3246120"/>
            <a:ext cx="1024128" cy="3200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22" name="Text 19"/>
          <p:cNvSpPr/>
          <p:nvPr/>
        </p:nvSpPr>
        <p:spPr>
          <a:xfrm>
            <a:off x="5852160" y="32644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北美 35%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760720" y="3703320"/>
            <a:ext cx="1111910" cy="320040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24" name="Text 21"/>
          <p:cNvSpPr/>
          <p:nvPr/>
        </p:nvSpPr>
        <p:spPr>
          <a:xfrm>
            <a:off x="5852160" y="3721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亚太 38%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760720" y="4160520"/>
            <a:ext cx="585216" cy="320040"/>
          </a:xfrm>
          <a:prstGeom prst="rect">
            <a:avLst/>
          </a:prstGeom>
          <a:solidFill>
            <a:srgbClr val="3282B8"/>
          </a:solidFill>
          <a:ln/>
        </p:spPr>
      </p:sp>
      <p:sp>
        <p:nvSpPr>
          <p:cNvPr id="26" name="Text 23"/>
          <p:cNvSpPr/>
          <p:nvPr/>
        </p:nvSpPr>
        <p:spPr>
          <a:xfrm>
            <a:off x="5852160" y="41788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欧洲 20%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760720" y="4617720"/>
            <a:ext cx="204826" cy="3200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8" name="Text 25"/>
          <p:cNvSpPr/>
          <p:nvPr/>
        </p:nvSpPr>
        <p:spPr>
          <a:xfrm>
            <a:off x="5852160" y="46360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其他 7%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中国AI市场现状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4C7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7,180亿元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2024年中国AI核心产业规模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同比增长 20.8%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931920" cy="2286000"/>
          </a:xfrm>
          <a:prstGeom prst="rect">
            <a:avLst/>
          </a:prstGeom>
          <a:solidFill>
            <a:srgbClr val="E2E8F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188720"/>
            <a:ext cx="73152" cy="2286000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发展特点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6916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政策支持强劲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国家战略性新兴产业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应用场景丰富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制造业、零售、医疗、金融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人才储备充足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AI研究人员数量全球第二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细分领域规模（2024）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2011680" cy="1463040"/>
          </a:xfrm>
          <a:prstGeom prst="rect">
            <a:avLst/>
          </a:prstGeom>
          <a:solidFill>
            <a:srgbClr val="E2E8F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429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计算机视觉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1,053亿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" y="4251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占比 14.7%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06040" y="3337560"/>
            <a:ext cx="2011680" cy="1463040"/>
          </a:xfrm>
          <a:prstGeom prst="rect">
            <a:avLst/>
          </a:prstGeom>
          <a:solidFill>
            <a:srgbClr val="E2E8F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06040" y="3429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语音技术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0604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785亿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606040" y="4251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占比 10.9%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337560"/>
            <a:ext cx="2011680" cy="1463040"/>
          </a:xfrm>
          <a:prstGeom prst="rect">
            <a:avLst/>
          </a:prstGeom>
          <a:solidFill>
            <a:srgbClr val="E2E8F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3429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机器学习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1,120亿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754880" y="4251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占比 15.6%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03720" y="3337560"/>
            <a:ext cx="2011680" cy="1463040"/>
          </a:xfrm>
          <a:prstGeom prst="rect">
            <a:avLst/>
          </a:prstGeom>
          <a:solidFill>
            <a:srgbClr val="00ADB5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03720" y="3429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NLP/大模型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0372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2,340亿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03720" y="4251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占比 32.6%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AI产业链分析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011680" cy="2743200"/>
          </a:xfrm>
          <a:prstGeom prst="rect">
            <a:avLst/>
          </a:prstGeom>
          <a:solidFill>
            <a:srgbClr val="1B262C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146304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芯片（NVIDIA/华为）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云计算（阿里云/腾讯云）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数据中心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传感器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51760" y="1188720"/>
            <a:ext cx="2011680" cy="2743200"/>
          </a:xfrm>
          <a:prstGeom prst="rect">
            <a:avLst/>
          </a:prstGeom>
          <a:solidFill>
            <a:srgbClr val="0F4C75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51760" y="1280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51760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中上游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2011680"/>
            <a:ext cx="146304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算法框架（TensorFlow）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8892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深度学习平台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8892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预训练模型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8892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开发工具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1188720"/>
            <a:ext cx="2011680" cy="2743200"/>
          </a:xfrm>
          <a:prstGeom prst="rect">
            <a:avLst/>
          </a:prstGeom>
          <a:solidFill>
            <a:srgbClr val="3282B8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1280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模型层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46320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中下游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20640" y="2011680"/>
            <a:ext cx="146304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大语言模型（LLM）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计算机视觉模型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多模态模型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行业垂直模型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40880" y="1188720"/>
            <a:ext cx="2011680" cy="2743200"/>
          </a:xfrm>
          <a:prstGeom prst="rect">
            <a:avLst/>
          </a:prstGeom>
          <a:solidFill>
            <a:srgbClr val="00ADB5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040880" y="1280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应用层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040880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下游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15200" y="2011680"/>
            <a:ext cx="146304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7804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智能客服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7804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自动驾驶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7804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智慧医疗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7804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智能制造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33172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7208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价值分布：基础层占产业价值35% | 技术层25% | 模型层20% | 应用层20%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主要应用领域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1645920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🏥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51560" y="1325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智慧医疗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AI辅助诊断、药物研发、医学影像分析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331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手术机器人、AI阅片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188720"/>
            <a:ext cx="54864" cy="1645920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🚗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886200" y="1325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自动驾驶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737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环境感知、路径规划、决策控制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2331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L4级自动驾驶测试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18872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188720"/>
            <a:ext cx="54864" cy="1645920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🏦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20840" y="1325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金融科技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737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智能风控、反欺诈、智能投顾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2331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AI量化交易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017520"/>
            <a:ext cx="54864" cy="1645920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🏭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051560" y="3154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智能制造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94360" y="35661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质量检测、预测性维护、柔性生产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4160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工业互联网平台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91840" y="301752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91840" y="3017520"/>
            <a:ext cx="54864" cy="1645920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30" name="Text 28"/>
          <p:cNvSpPr/>
          <p:nvPr/>
        </p:nvSpPr>
        <p:spPr>
          <a:xfrm>
            <a:off x="34290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3886200" y="3154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智能客服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429000" y="35661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对话系统、情感分析、多轮对话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29000" y="4160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大模型客服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26480" y="301752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3017520"/>
            <a:ext cx="54864" cy="1645920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720840" y="3154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智慧教育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263640" y="35661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个性化学习、智能辅导、教育评估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63640" y="4160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自适应学习系统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全球竞争格局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全球AI巨头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325880" cy="1280160"/>
          </a:xfrm>
          <a:prstGeom prst="rect">
            <a:avLst/>
          </a:prstGeom>
          <a:solidFill>
            <a:srgbClr val="1B262C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002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E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🇺🇸 OpenAI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大语言模型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74520" y="1554480"/>
            <a:ext cx="1325880" cy="1280160"/>
          </a:xfrm>
          <a:prstGeom prst="rect">
            <a:avLst/>
          </a:prstGeom>
          <a:solidFill>
            <a:srgbClr val="1B262C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74520" y="16002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E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74520" y="18745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🇺🇸 Google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74520" y="22402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全栈AI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1554480"/>
            <a:ext cx="1325880" cy="1280160"/>
          </a:xfrm>
          <a:prstGeom prst="rect">
            <a:avLst/>
          </a:prstGeom>
          <a:solidFill>
            <a:srgbClr val="1B262C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91840" y="16002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E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18745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🇺🇸 Microsoft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22402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企业AI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1554480"/>
            <a:ext cx="1325880" cy="1280160"/>
          </a:xfrm>
          <a:prstGeom prst="rect">
            <a:avLst/>
          </a:prstGeom>
          <a:solidFill>
            <a:srgbClr val="1B262C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16002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E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18745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🇺🇸 Meta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22402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开源生态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1554480"/>
            <a:ext cx="1325880" cy="1280160"/>
          </a:xfrm>
          <a:prstGeom prst="rect">
            <a:avLst/>
          </a:prstGeom>
          <a:solidFill>
            <a:srgbClr val="0F4C75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26480" y="16002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E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18745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🇨🇳 百度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22402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中文LLM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543800" y="1554480"/>
            <a:ext cx="1325880" cy="1280160"/>
          </a:xfrm>
          <a:prstGeom prst="rect">
            <a:avLst/>
          </a:prstGeom>
          <a:solidFill>
            <a:srgbClr val="0F4C75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43800" y="16002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E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43800" y="18745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🇨🇳 华为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43800" y="22402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算力+模型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中国AI企业矩阵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7200" y="3429000"/>
            <a:ext cx="1188720" cy="411480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474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第一梯队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737360" y="350215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百度（文心）、阿里（通义）、腾讯（混元）、华为（盘古）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931920"/>
            <a:ext cx="1188720" cy="411480"/>
          </a:xfrm>
          <a:prstGeom prst="rect">
            <a:avLst/>
          </a:prstGeom>
          <a:solidFill>
            <a:srgbClr val="3282B8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977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第二梯队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737360" y="400507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字节跳动、科大讯飞、商汤科技、旷视科技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4434840"/>
            <a:ext cx="1188720" cy="41148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480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第三梯队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737360" y="450799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智谱AI、百川智能、月之暗面、MiniMax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 发展趋势与展望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114800" cy="1097280"/>
          </a:xfrm>
          <a:prstGeom prst="rect">
            <a:avLst/>
          </a:prstGeom>
          <a:solidFill>
            <a:srgbClr val="E2E8F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80160"/>
            <a:ext cx="457200" cy="457200"/>
          </a:xfrm>
          <a:prstGeom prst="ellipse">
            <a:avLst/>
          </a:prstGeom>
          <a:solidFill>
            <a:srgbClr val="00ADB5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441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多模态融合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文本、图像、视频、音频统一处理，GPT-4V、Sora为代表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143000"/>
            <a:ext cx="4114800" cy="1097280"/>
          </a:xfrm>
          <a:prstGeom prst="rect">
            <a:avLst/>
          </a:prstGeom>
          <a:solidFill>
            <a:srgbClr val="E2E8F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280160"/>
            <a:ext cx="457200" cy="457200"/>
          </a:xfrm>
          <a:prstGeom prst="ellipse">
            <a:avLst/>
          </a:prstGeom>
          <a:solidFill>
            <a:srgbClr val="00ADB5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3441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3212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Agent智能体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1691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AI自主规划和执行复杂任务， Manus、AutoGPT引领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4114800" cy="1097280"/>
          </a:xfrm>
          <a:prstGeom prst="rect">
            <a:avLst/>
          </a:prstGeom>
          <a:solidFill>
            <a:srgbClr val="E2E8F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514600"/>
            <a:ext cx="457200" cy="457200"/>
          </a:xfrm>
          <a:prstGeom prst="ellipse">
            <a:avLst/>
          </a:prstGeom>
          <a:solidFill>
            <a:srgbClr val="00ADB5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5786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端侧AI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29260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AI芯片下放终端，手机、PC本地化AI处理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377440"/>
            <a:ext cx="4114800" cy="1097280"/>
          </a:xfrm>
          <a:prstGeom prst="rect">
            <a:avLst/>
          </a:prstGeom>
          <a:solidFill>
            <a:srgbClr val="E2E8F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2514600"/>
            <a:ext cx="457200" cy="457200"/>
          </a:xfrm>
          <a:prstGeom prst="ellipse">
            <a:avLst/>
          </a:prstGeom>
          <a:solidFill>
            <a:srgbClr val="00ADB5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5786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32120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垂直行业深耕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37760" y="29260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医疗、法律、金融等专用大模型兴起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611880"/>
            <a:ext cx="4114800" cy="1097280"/>
          </a:xfrm>
          <a:prstGeom prst="rect">
            <a:avLst/>
          </a:prstGeom>
          <a:solidFill>
            <a:srgbClr val="E2E8F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3749040"/>
            <a:ext cx="457200" cy="457200"/>
          </a:xfrm>
          <a:prstGeom prst="ellipse">
            <a:avLst/>
          </a:prstGeom>
          <a:solidFill>
            <a:srgbClr val="00ADB5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8130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3794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开源生态繁荣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94360" y="4160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Llama、Mistral等开源模型降低AI应用门槛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611880"/>
            <a:ext cx="4114800" cy="1097280"/>
          </a:xfrm>
          <a:prstGeom prst="rect">
            <a:avLst/>
          </a:prstGeom>
          <a:solidFill>
            <a:srgbClr val="E2E8F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37760" y="3749040"/>
            <a:ext cx="457200" cy="457200"/>
          </a:xfrm>
          <a:prstGeom prst="ellipse">
            <a:avLst/>
          </a:prstGeom>
          <a:solidFill>
            <a:srgbClr val="00ADB5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8130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32120" y="3794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AI安全治理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937760" y="4160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可解释AI、对齐技术、监管框架日益完善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  投资机会分析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三大投资主线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743200" cy="2286000"/>
          </a:xfrm>
          <a:prstGeom prst="rect">
            <a:avLst/>
          </a:prstGeom>
          <a:solidFill>
            <a:srgbClr val="1B262C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45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基础设施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AI芯片（GPU/TPU/NPU）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算力租赁服务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数据中心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700"/>
                </a:solidFill>
              </a:rPr>
              <a:t>⭐⭐⭐⭐⭐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554480"/>
            <a:ext cx="2743200" cy="2286000"/>
          </a:xfrm>
          <a:prstGeom prst="rect">
            <a:avLst/>
          </a:prstGeom>
          <a:solidFill>
            <a:srgbClr val="0F4C75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1645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模型与应用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2148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大模型研发企业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2514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垂直行业应用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2880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AI SaaS平台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700"/>
                </a:solidFill>
              </a:rPr>
              <a:t>⭐⭐⭐⭐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1554480"/>
            <a:ext cx="2743200" cy="2286000"/>
          </a:xfrm>
          <a:prstGeom prst="rect">
            <a:avLst/>
          </a:prstGeom>
          <a:solidFill>
            <a:srgbClr val="00ADB5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1645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场景落地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2148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智能汽车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2514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智慧医疗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2880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工业AI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700"/>
                </a:solidFill>
              </a:rPr>
              <a:t>⭐⭐⭐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投资建议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434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短期关注算力基础设施，中期布局模型层龙头企业，长期看好垂直行业应用落地。重点关注具备自主可控技术能力的国内企业。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  风险与挑战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技术风险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算力瓶颈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算法偏见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可解释性不足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246120"/>
            <a:ext cx="914400" cy="2743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246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风险中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118872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06040" y="1280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0604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数据风险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88920" y="2194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隐私泄露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88920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数据垄断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8892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合规挑战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54680" y="3246120"/>
            <a:ext cx="914400" cy="2743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3154680" y="3246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风险高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18872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1280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75488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监管风险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37760" y="2194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政策不确定性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行业准入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国际管制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03520" y="3246120"/>
            <a:ext cx="914400" cy="2743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3246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风险高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03720" y="118872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903720" y="1280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90372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商业风险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086600" y="2194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盈利困难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86600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竞争激烈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8660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估值泡沫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452360" y="3246120"/>
            <a:ext cx="914400" cy="2743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5" name="Text 33"/>
          <p:cNvSpPr/>
          <p:nvPr/>
        </p:nvSpPr>
        <p:spPr>
          <a:xfrm>
            <a:off x="7452360" y="3246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风险中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3931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关键议题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0080" y="4251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AI伦理与治理框架建设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数据产权和隐私保护法规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中美科技竞争下的供应链安全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总结与建议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1371600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核心结论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AI正在重构全球经济格局，中国具备市场规模、数据资源和政策支持三大优势。大模型开启新一轮技术革命，2024-2026年将是AI应用落地关键期。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2011680" cy="1371600"/>
          </a:xfrm>
          <a:prstGeom prst="rect">
            <a:avLst/>
          </a:prstGeom>
          <a:solidFill>
            <a:srgbClr val="E2E8F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697480"/>
            <a:ext cx="2011680" cy="54864"/>
          </a:xfrm>
          <a:prstGeom prst="rect">
            <a:avLst/>
          </a:prstGeom>
          <a:solidFill>
            <a:srgbClr val="3282B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88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技术布局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关注多模态大模型、Agent智能体方向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2697480"/>
            <a:ext cx="2011680" cy="1371600"/>
          </a:xfrm>
          <a:prstGeom prst="rect">
            <a:avLst/>
          </a:prstGeom>
          <a:solidFill>
            <a:srgbClr val="E2E8F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2697480"/>
            <a:ext cx="2011680" cy="54864"/>
          </a:xfrm>
          <a:prstGeom prst="rect">
            <a:avLst/>
          </a:prstGeom>
          <a:solidFill>
            <a:srgbClr val="3282B8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2788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产业融合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97480" y="32004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推动AI与实体经济深度结合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697480"/>
            <a:ext cx="2011680" cy="1371600"/>
          </a:xfrm>
          <a:prstGeom prst="rect">
            <a:avLst/>
          </a:prstGeom>
          <a:solidFill>
            <a:srgbClr val="E2E8F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697480"/>
            <a:ext cx="2011680" cy="54864"/>
          </a:xfrm>
          <a:prstGeom prst="rect">
            <a:avLst/>
          </a:prstGeom>
          <a:solidFill>
            <a:srgbClr val="3282B8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788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生态建设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32004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构建开源共享的技术生态体系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2697480"/>
            <a:ext cx="2011680" cy="1371600"/>
          </a:xfrm>
          <a:prstGeom prst="rect">
            <a:avLst/>
          </a:prstGeom>
          <a:solidFill>
            <a:srgbClr val="E2E8F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2697480"/>
            <a:ext cx="2011680" cy="54864"/>
          </a:xfrm>
          <a:prstGeom prst="rect">
            <a:avLst/>
          </a:prstGeom>
          <a:solidFill>
            <a:srgbClr val="3282B8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2788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风险防范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32004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建立健全AI伦理和监管框架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6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6459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感谢聆听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0" y="2468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spc="800" kern="0" dirty="0">
                <a:solidFill>
                  <a:srgbClr val="00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0" y="3200400"/>
            <a:ext cx="2743200" cy="0"/>
          </a:xfrm>
          <a:prstGeom prst="line">
            <a:avLst/>
          </a:prstGeom>
          <a:noFill/>
          <a:ln w="25400">
            <a:solidFill>
              <a:srgbClr val="00AD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3383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欢迎提问与交流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0" y="4389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金联创智能研究平台  |  人工智能行业分析报告  |  2026年5月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人工智能行业深度分析</dc:title>
  <dc:subject>PptxGenJS Presentation</dc:subject>
  <dc:creator>金联创智能研究平台</dc:creator>
  <cp:lastModifiedBy>金联创智能研究平台</cp:lastModifiedBy>
  <cp:revision>1</cp:revision>
  <dcterms:created xsi:type="dcterms:W3CDTF">2026-05-21T01:37:33Z</dcterms:created>
  <dcterms:modified xsi:type="dcterms:W3CDTF">2026-05-21T01:37:33Z</dcterms:modified>
</cp:coreProperties>
</file>