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02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202C"/>
                </a:solidFill>
                <a:latin typeface="Arial"/>
              </a:rPr>
              <a:t>年度营收增长趋势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营收(亿元)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8.5</c:v>
                </c:pt>
                <c:pt idx="2">
                  <c:v>9.8</c:v>
                </c:pt>
                <c:pt idx="3">
                  <c:v>10.8</c:v>
                </c:pt>
                <c:pt idx="4">
                  <c:v>12.8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02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202C"/>
                </a:solidFill>
                <a:latin typeface="Arial"/>
              </a:rPr>
              <a:t>净利润增长曲线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净利润(亿元)</c:v>
                </c:pt>
              </c:strCache>
            </c:strRef>
          </c:tx>
          <c:spPr>
            <a:solidFill>
              <a:srgbClr val="D4AF37"/>
            </a:solidFill>
            <a:ln w="3810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1.12</c:v>
                </c:pt>
                <c:pt idx="2">
                  <c:v>1.35</c:v>
                </c:pt>
                <c:pt idx="3">
                  <c:v>1.52</c:v>
                </c:pt>
                <c:pt idx="4">
                  <c:v>1.86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业务占比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3182CE"/>
              </a:solidFill>
              <a:effectLst/>
            </c:spPr>
          </c:dPt>
          <c:dPt>
            <c:idx val="2"/>
            <c:bubble3D val="0"/>
            <c:spPr>
              <a:solidFill>
                <a:srgbClr val="D4AF37"/>
              </a:solidFill>
              <a:effectLst/>
            </c:spPr>
          </c:dPt>
          <c:dPt>
            <c:idx val="3"/>
            <c:bubble3D val="0"/>
            <c:spPr>
              <a:solidFill>
                <a:srgbClr val="71809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软件服务</c:v>
                </c:pt>
                <c:pt idx="1">
                  <c:v>硬件销售</c:v>
                </c:pt>
                <c:pt idx="2">
                  <c:v>咨询服务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09728" cy="2743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2025年度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公司工作报告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凝心聚力 · 砥砺前行 · 再创辉煌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报告人：总经理办公室    |    2026年1月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年度工作回顾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主要业绩与里程碑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54864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经营数据分析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营收利润与关键指标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54864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重点项目进展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核心项目完成情况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54864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团队建设成果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人才与组织发展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4864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749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存在问题与挑战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不足与改进方向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54864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749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2026年工作计划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目标与战略部署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年度工作回顾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13716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12.8亿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年度营收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+18.5%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2011680" cy="13716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9728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1.86亿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+22.3%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2011680" cy="13716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1,280人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员工总数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+15.2%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2011680" cy="13716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9728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156个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项目交付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+12.8%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年度大事记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3063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完成A轮融资2亿元，估值突破20亿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84448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538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35387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华东总部落成，办公面积扩大至8000㎡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767328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59936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0142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63040" y="401421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核心产品3.0发布，用户突破50万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242816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535424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4897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12月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63040" y="448970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荣获'国家高新技术企业'认证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经营数据分析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457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0" y="105156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业务板块占比</a:t>
            </a:r>
            <a:endParaRPr lang="en-US" sz="1400" dirty="0"/>
          </a:p>
        </p:txBody>
      </p:sp>
      <p:graphicFrame>
        <p:nvGraphicFramePr>
          <p:cNvPr id="7" name="Chart 2" descr=""/>
          <p:cNvGraphicFramePr/>
          <p:nvPr/>
        </p:nvGraphicFramePr>
        <p:xfrm>
          <a:off x="457200" y="384048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475488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关键财务指标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75488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毛利率：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12648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42.5%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754880" y="4233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净利率：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26480" y="4233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54880" y="45811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人均产值：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126480" y="45811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54880" y="49286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应收周转：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126480" y="49286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重点项目进展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8686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智能数据中台项目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90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搭建统一数据平台，实现数据资产化管理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预算：2800万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508760"/>
            <a:ext cx="22860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0" y="1508760"/>
            <a:ext cx="2286000" cy="1828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57400"/>
            <a:ext cx="73152" cy="8686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客户关系管理系统升级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2496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CRM系统重构，客户转化率提升35%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预算：1200万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2514600"/>
            <a:ext cx="22860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0" y="2514600"/>
            <a:ext cx="2286000" cy="1828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697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智能制造云平台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35021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为制造业客户提供一站式解决方案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预算：3500万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520440"/>
            <a:ext cx="22860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3520440"/>
            <a:ext cx="1714500" cy="1828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703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69080"/>
            <a:ext cx="73152" cy="8686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AI产品研发中心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" y="4507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布局大模型应用，预计Q2上线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预算：5000万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4526280"/>
            <a:ext cx="22860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5760720" y="4526280"/>
            <a:ext cx="1371600" cy="1828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6072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团队建设成果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员工总数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+170人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本科及以上学历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技术专利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行业奖项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培训与发展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内部培训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总学时：12,800  |  156场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外部培训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总学时：3,200  |  42场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总学时：28,500  |  undefined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组织优化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6320" y="3200400"/>
            <a:ext cx="3931920" cy="155448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新设AI产品事业部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整合研发中心为三大技术中台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9867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建立跨部门敏捷项目组机制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43342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完成管理层梯队建设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存在问题与挑战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1188720"/>
            <a:ext cx="82296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207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市场竞争加剧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行业新进入者增多，价格战压力增大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应对措施：加强产品差异化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0" y="1188720"/>
            <a:ext cx="82296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207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人才流失风险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核心技术人员流动率上升至12%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14884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应对措施：优化薪酬激励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3108960"/>
            <a:ext cx="82296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127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技术迭代压力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AI等新技术更新快，研发投入需加大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应对措施：增加研发预算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55280" y="3108960"/>
            <a:ext cx="82296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3127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人力成本上升，毛利率承压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06908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应对措施：推进自动化提效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2026年工作计划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2026年核心目标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营收15亿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增长17%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净利润2.3亿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974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增长24%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员工1500人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增长17%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市占率Top3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行业地位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四大战略举措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011680" cy="21031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201168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产品创新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AI产品线全面上线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SaaS产品矩阵升级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行业解决方案深化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2788920"/>
            <a:ext cx="2011680" cy="21031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2788920"/>
            <a:ext cx="201168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市场拓展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43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华南大区布局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海外市场试点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渠道合作伙伴计划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2011680" cy="21031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788920"/>
            <a:ext cx="201168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技术升级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920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云原生架构升级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数据中台2.0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安全体系完善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2788920"/>
            <a:ext cx="2011680" cy="21031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2788920"/>
            <a:ext cx="201168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组织赋能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人才梯队建设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数字化管理升级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企业文化深化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砥砺奋进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共创辉煌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感谢各位领导的关心与支持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让我们携手并进，共创2026新篇章！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总经理办公室  |  2026年1月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公司年度工作报告</dc:title>
  <dc:subject>PptxGenJS Presentation</dc:subject>
  <dc:creator>金联创智能研究平台</dc:creator>
  <cp:lastModifiedBy>金联创智能研究平台</cp:lastModifiedBy>
  <cp:revision>1</cp:revision>
  <dcterms:created xsi:type="dcterms:W3CDTF">2026-05-21T02:19:08Z</dcterms:created>
  <dcterms:modified xsi:type="dcterms:W3CDTF">2026-05-21T02:19:08Z</dcterms:modified>
</cp:coreProperties>
</file>